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CBA9"/>
    <a:srgbClr val="C66FD6"/>
    <a:srgbClr val="6E8CF5"/>
    <a:srgbClr val="B676DF"/>
    <a:srgbClr val="5CBE44"/>
    <a:srgbClr val="F25993"/>
    <a:srgbClr val="005E30"/>
    <a:srgbClr val="AB0605"/>
    <a:srgbClr val="9A5907"/>
    <a:srgbClr val="016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70"/>
    <p:restoredTop sz="94676"/>
  </p:normalViewPr>
  <p:slideViewPr>
    <p:cSldViewPr snapToGrid="0">
      <p:cViewPr varScale="1">
        <p:scale>
          <a:sx n="71" d="100"/>
          <a:sy n="71" d="100"/>
        </p:scale>
        <p:origin x="20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11151-3588-D54C-8710-AC14F0C0A4F2}" type="datetimeFigureOut">
              <a:rPr lang="en-KR" smtClean="0"/>
              <a:t>8/18/26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5305C-CC66-1549-8120-5352AFB519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0753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5305C-CC66-1549-8120-5352AFB519B4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895175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6869-F72F-A784-8607-09B237F21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4EFED-81BA-9728-6499-4586DC621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9CABE-BD05-9F6B-94F8-5BB4FC11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2347-CF75-53B5-F3CD-1E7ADFDC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C0D49-FBAC-AC02-86CF-3C4528D8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3561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4DC8-E12E-64F3-5985-0DF770BF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0A4A-1AD9-82EB-4256-03AF858DB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C348F-23BB-8D84-F932-ADB35656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7E32-AF8D-60A1-0CFB-B6F993C7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5D113-46C7-1A08-949B-98523A54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2502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1AD7-ABDA-AD0B-FAA7-1D3E2A56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08E3D-61A9-D95B-FE9B-8A6AA3874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DD807-D0A1-FE8C-AE58-0EC23F993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BB711-11C9-E25C-974F-3198BA49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9415A-B549-9339-5F54-014B1252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1573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1EFF-FA3D-6522-490C-1E927A17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E3E8-3B00-D698-4C6D-274C00C19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E8D8-1ABC-C2AA-3915-814B85549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27D7A-DC4A-D440-D19D-1847AF5E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B39F5-7D74-701F-D7A7-7D4F7364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3BCC9-A5B7-7ADE-7249-CCE57679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423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8E07-B5E6-438C-9D0B-91FC9E92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446DF-134C-C859-7A8E-2CEEE0B62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E3386-7976-7353-C48F-E33BF660B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9D615-7BDF-BC66-3E83-3B02264B8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91CB7-8EF2-D271-2E99-05734111F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71F0C3-F3E5-3D51-BD42-2DCAED6B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33482-B903-EACB-A5DD-DA34481D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A2481-D627-F360-4D37-15E6114D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295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CDCD-E50E-35A1-FF81-2C936142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35E1B-23AC-F0C4-AC77-689E31DB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D1B69-E086-E5A2-E689-CB109B98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143A4-77FC-1BF5-F49C-A27FD762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0428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C6883-EF80-DD90-40A4-BC9F8298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A0225-BCD7-35B4-1157-B08945433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4014D-503B-9DF0-5B68-2636CED8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8871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1BD7-EA6C-978E-DF41-E3EC076F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9BF2D-EF21-B5A3-8BBC-391B51EA1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3B77F-DF8D-8EF1-D154-366BFC64C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38083-0B98-A535-E364-402CDC55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FEB15-446E-87A5-2C06-B8BA2081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35768-3F13-AAFF-2122-AB384384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729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839C-86A7-3DB5-C216-4C0C26B3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55CA4-1A6B-40EF-2763-41FAF76B7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70B62-71F5-BB74-4493-91C835811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B5013-9AA9-EEA8-9C50-9228EB332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1D2A5-3C40-8351-A209-59782045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3B9-9AA1-A948-9A14-BFF3BE58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0676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E33E-2887-EA20-314C-7F600DE9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103C5-48B6-FB6A-32B8-C6B73140A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51A34-5B9E-D2AC-685C-73665D88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115D3-0D06-29EE-3D78-83E0554B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60352-813E-D2CE-B3BF-21BA4309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9465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CBADD9-3C68-4564-691E-76D24E44D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6EBD3-C3B0-6EF9-5EF0-17A647E51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CD90E-BF64-D84B-2079-6AAFC313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4389-81D2-79B9-029A-F3676361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623C9-9104-E9E9-A616-A6146803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714119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E644D-A1D3-DD2D-A2C9-03E58E65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EBEA-C120-A849-F675-7351B25C9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BD3B9-C2D0-6218-E4A9-B301A0970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0A5B40-2478-3149-A4AA-E633CF7B007E}" type="datetimeFigureOut">
              <a:rPr lang="en-KR" smtClean="0"/>
              <a:t>8/18/26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4B6AC-2F56-530A-69B3-98BAB4D50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87D90-9160-EA24-B65C-01E34710C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BCE41-EB69-874A-85A8-D55B306AFD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6136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9B28E3-8DA3-3D62-0037-3335AEAFE112}"/>
              </a:ext>
            </a:extLst>
          </p:cNvPr>
          <p:cNvPicPr>
            <a:picLocks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0" y="1448655"/>
            <a:ext cx="12160800" cy="5061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6BD6CE5-0751-DDA4-7165-0D9B4A245DFB}"/>
              </a:ext>
            </a:extLst>
          </p:cNvPr>
          <p:cNvSpPr/>
          <p:nvPr/>
        </p:nvSpPr>
        <p:spPr>
          <a:xfrm>
            <a:off x="154409" y="1993064"/>
            <a:ext cx="2474460" cy="32631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DB27C-40EA-ACF6-3C03-46684ED07292}"/>
              </a:ext>
            </a:extLst>
          </p:cNvPr>
          <p:cNvSpPr/>
          <p:nvPr/>
        </p:nvSpPr>
        <p:spPr>
          <a:xfrm>
            <a:off x="7747707" y="2052723"/>
            <a:ext cx="2244251" cy="32631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5CEF25-4F67-E30B-9535-43DEF06F2D17}"/>
              </a:ext>
            </a:extLst>
          </p:cNvPr>
          <p:cNvSpPr/>
          <p:nvPr/>
        </p:nvSpPr>
        <p:spPr>
          <a:xfrm>
            <a:off x="5491432" y="1993064"/>
            <a:ext cx="1909798" cy="31007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ECAB5A-819B-2656-F70E-ABE7FF47A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527" y="2710841"/>
            <a:ext cx="1756775" cy="1720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F78739-D717-9CA2-C144-7C93B380452F}"/>
              </a:ext>
            </a:extLst>
          </p:cNvPr>
          <p:cNvSpPr txBox="1"/>
          <p:nvPr/>
        </p:nvSpPr>
        <p:spPr>
          <a:xfrm>
            <a:off x="368696" y="1625074"/>
            <a:ext cx="2009825" cy="276999"/>
          </a:xfrm>
          <a:prstGeom prst="rect">
            <a:avLst/>
          </a:prstGeom>
          <a:solidFill>
            <a:srgbClr val="02377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KR" sz="1200" b="1" dirty="0">
                <a:solidFill>
                  <a:schemeClr val="bg1"/>
                </a:solidFill>
              </a:rPr>
              <a:t>1 · Forward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59C47-8C0F-A386-5195-673194D1F16E}"/>
              </a:ext>
            </a:extLst>
          </p:cNvPr>
          <p:cNvSpPr txBox="1"/>
          <p:nvPr/>
        </p:nvSpPr>
        <p:spPr>
          <a:xfrm>
            <a:off x="2928833" y="1625074"/>
            <a:ext cx="2221579" cy="276999"/>
          </a:xfrm>
          <a:prstGeom prst="rect">
            <a:avLst/>
          </a:prstGeom>
          <a:solidFill>
            <a:srgbClr val="01673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· Candidate loss atoms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5B6DFC-F520-0649-1F98-5CDB2BEC3953}"/>
              </a:ext>
            </a:extLst>
          </p:cNvPr>
          <p:cNvSpPr txBox="1"/>
          <p:nvPr/>
        </p:nvSpPr>
        <p:spPr>
          <a:xfrm>
            <a:off x="5474806" y="1625074"/>
            <a:ext cx="1925499" cy="276999"/>
          </a:xfrm>
          <a:prstGeom prst="rect">
            <a:avLst/>
          </a:prstGeom>
          <a:solidFill>
            <a:srgbClr val="9A590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· Grid 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EB4A0-3318-8CD6-4341-45CE0DC30BB5}"/>
              </a:ext>
            </a:extLst>
          </p:cNvPr>
          <p:cNvSpPr txBox="1"/>
          <p:nvPr/>
        </p:nvSpPr>
        <p:spPr>
          <a:xfrm>
            <a:off x="7804718" y="1623360"/>
            <a:ext cx="2153988" cy="276999"/>
          </a:xfrm>
          <a:prstGeom prst="rect">
            <a:avLst/>
          </a:prstGeom>
          <a:solidFill>
            <a:srgbClr val="9A590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4 · Pre-image inversion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85E8C-1382-5902-8080-3C64ED761DF2}"/>
              </a:ext>
            </a:extLst>
          </p:cNvPr>
          <p:cNvSpPr txBox="1"/>
          <p:nvPr/>
        </p:nvSpPr>
        <p:spPr>
          <a:xfrm>
            <a:off x="10282865" y="1623359"/>
            <a:ext cx="1754726" cy="276999"/>
          </a:xfrm>
          <a:prstGeom prst="rect">
            <a:avLst/>
          </a:prstGeom>
          <a:solidFill>
            <a:srgbClr val="AB060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spc="-50" dirty="0">
                <a:solidFill>
                  <a:schemeClr val="bg1"/>
                </a:solidFill>
              </a:rPr>
              <a:t>5 · Personalized filter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0E73C0-05AC-1115-4276-7335DE9365B6}"/>
              </a:ext>
            </a:extLst>
          </p:cNvPr>
          <p:cNvSpPr txBox="1"/>
          <p:nvPr/>
        </p:nvSpPr>
        <p:spPr>
          <a:xfrm>
            <a:off x="142173" y="5169214"/>
            <a:ext cx="2450838" cy="5254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KR" sz="1000" dirty="0"/>
              <a:t>displayed hue → hue perceived by CVD</a:t>
            </a:r>
          </a:p>
          <a:p>
            <a:pPr algn="ctr">
              <a:lnSpc>
                <a:spcPct val="150000"/>
              </a:lnSpc>
            </a:pPr>
            <a:r>
              <a:rPr lang="en-KR" sz="1000" dirty="0"/>
              <a:t>δθ = β</a:t>
            </a:r>
            <a:r>
              <a:rPr lang="en-KR" sz="1000" baseline="-25000" dirty="0"/>
              <a:t>s</a:t>
            </a:r>
            <a:r>
              <a:rPr lang="en-KR" sz="1000" dirty="0"/>
              <a:t> cos(θ−90°) + βc cos(θ−θ</a:t>
            </a:r>
            <a:r>
              <a:rPr lang="en-KR" sz="1000" baseline="-25000" dirty="0"/>
              <a:t>conf</a:t>
            </a:r>
            <a:r>
              <a:rPr lang="en-KR" sz="1000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F46C98-5409-98CD-35F5-44A9E3526A31}"/>
              </a:ext>
            </a:extLst>
          </p:cNvPr>
          <p:cNvSpPr txBox="1"/>
          <p:nvPr/>
        </p:nvSpPr>
        <p:spPr>
          <a:xfrm>
            <a:off x="5474806" y="5082525"/>
            <a:ext cx="1960760" cy="6121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KR" sz="1200" dirty="0"/>
              <a:t>argmin over (β</a:t>
            </a:r>
            <a:r>
              <a:rPr lang="en-KR" sz="1200" baseline="-25000" dirty="0"/>
              <a:t>s</a:t>
            </a:r>
            <a:r>
              <a:rPr lang="en-KR" sz="1200" dirty="0"/>
              <a:t>, β</a:t>
            </a:r>
            <a:r>
              <a:rPr lang="en-KR" sz="1200" baseline="-25000" dirty="0"/>
              <a:t>c</a:t>
            </a:r>
            <a:r>
              <a:rPr lang="en-KR" sz="1200" dirty="0"/>
              <a:t>)</a:t>
            </a:r>
          </a:p>
          <a:p>
            <a:pPr algn="ctr">
              <a:lnSpc>
                <a:spcPct val="150000"/>
              </a:lnSpc>
            </a:pPr>
            <a:r>
              <a:rPr lang="en-KR" sz="1200" dirty="0"/>
              <a:t>in [−90, 90]², 2° grid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567D08-07C7-3286-5D4D-2E4983138081}"/>
              </a:ext>
            </a:extLst>
          </p:cNvPr>
          <p:cNvSpPr txBox="1"/>
          <p:nvPr/>
        </p:nvSpPr>
        <p:spPr>
          <a:xfrm>
            <a:off x="7901332" y="5377991"/>
            <a:ext cx="19607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solve </a:t>
            </a:r>
            <a:r>
              <a:rPr lang="el-GR" sz="1200" dirty="0"/>
              <a:t>θ</a:t>
            </a:r>
            <a:r>
              <a:rPr lang="en-US" sz="1200" baseline="-25000" dirty="0"/>
              <a:t>pre</a:t>
            </a:r>
            <a:r>
              <a:rPr lang="en-US" sz="1200" dirty="0"/>
              <a:t> + </a:t>
            </a:r>
            <a:r>
              <a:rPr lang="el-GR" sz="1200" dirty="0" err="1"/>
              <a:t>δθ</a:t>
            </a:r>
            <a:r>
              <a:rPr lang="el-GR" sz="1200" dirty="0"/>
              <a:t>(θ</a:t>
            </a:r>
            <a:r>
              <a:rPr lang="en-US" sz="1200" baseline="-25000" dirty="0"/>
              <a:t>pre</a:t>
            </a:r>
            <a:r>
              <a:rPr lang="en-US" sz="1200" dirty="0"/>
              <a:t>) = </a:t>
            </a:r>
            <a:r>
              <a:rPr lang="el-GR" sz="1200" dirty="0"/>
              <a:t>θ</a:t>
            </a:r>
            <a:endParaRPr lang="en-KR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645B07-4AAB-A60A-EC29-C6684E948563}"/>
              </a:ext>
            </a:extLst>
          </p:cNvPr>
          <p:cNvSpPr txBox="1"/>
          <p:nvPr/>
        </p:nvSpPr>
        <p:spPr>
          <a:xfrm>
            <a:off x="10392774" y="5377990"/>
            <a:ext cx="164481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1200" dirty="0" err="1"/>
              <a:t>δθ</a:t>
            </a:r>
            <a:r>
              <a:rPr lang="en-US" sz="1200" baseline="-25000" dirty="0"/>
              <a:t>filter</a:t>
            </a:r>
            <a:r>
              <a:rPr lang="en-US" sz="1200" dirty="0"/>
              <a:t>(</a:t>
            </a:r>
            <a:r>
              <a:rPr lang="el-GR" sz="1200" dirty="0"/>
              <a:t>θ) = θ</a:t>
            </a:r>
            <a:r>
              <a:rPr lang="en-US" sz="1200" baseline="-25000" dirty="0"/>
              <a:t>pre</a:t>
            </a:r>
            <a:r>
              <a:rPr lang="en-US" sz="1200" dirty="0"/>
              <a:t> − </a:t>
            </a:r>
            <a:r>
              <a:rPr lang="el-GR" sz="1200" dirty="0"/>
              <a:t>θ</a:t>
            </a:r>
            <a:endParaRPr lang="en-KR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62170B-BB83-D2FE-8ED0-530F06231459}"/>
              </a:ext>
            </a:extLst>
          </p:cNvPr>
          <p:cNvSpPr txBox="1"/>
          <p:nvPr/>
        </p:nvSpPr>
        <p:spPr>
          <a:xfrm>
            <a:off x="10580685" y="2052723"/>
            <a:ext cx="799552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Displayed</a:t>
            </a:r>
            <a:endParaRPr lang="en-KR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4FAB76-2BE6-4281-B73F-F4F9BEAB1C7F}"/>
              </a:ext>
            </a:extLst>
          </p:cNvPr>
          <p:cNvSpPr txBox="1"/>
          <p:nvPr/>
        </p:nvSpPr>
        <p:spPr>
          <a:xfrm>
            <a:off x="11389339" y="2052723"/>
            <a:ext cx="685576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Filtered</a:t>
            </a:r>
            <a:endParaRPr lang="en-KR" sz="10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741637-6E63-D961-1154-70DB629CFA87}"/>
              </a:ext>
            </a:extLst>
          </p:cNvPr>
          <p:cNvSpPr/>
          <p:nvPr/>
        </p:nvSpPr>
        <p:spPr>
          <a:xfrm>
            <a:off x="10786188" y="2407716"/>
            <a:ext cx="382555" cy="606071"/>
          </a:xfrm>
          <a:prstGeom prst="rect">
            <a:avLst/>
          </a:prstGeom>
          <a:solidFill>
            <a:srgbClr val="F25993"/>
          </a:solidFill>
          <a:ln>
            <a:solidFill>
              <a:srgbClr val="F25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6D5F9A-DDF2-2F13-5E01-E72BBC216C90}"/>
              </a:ext>
            </a:extLst>
          </p:cNvPr>
          <p:cNvSpPr/>
          <p:nvPr/>
        </p:nvSpPr>
        <p:spPr>
          <a:xfrm>
            <a:off x="10777673" y="3381262"/>
            <a:ext cx="382555" cy="606071"/>
          </a:xfrm>
          <a:prstGeom prst="rect">
            <a:avLst/>
          </a:prstGeom>
          <a:solidFill>
            <a:srgbClr val="5CBE44"/>
          </a:solidFill>
          <a:ln>
            <a:solidFill>
              <a:srgbClr val="5CB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0FB4E1-759D-AF57-2429-8D04242EEE95}"/>
              </a:ext>
            </a:extLst>
          </p:cNvPr>
          <p:cNvSpPr/>
          <p:nvPr/>
        </p:nvSpPr>
        <p:spPr>
          <a:xfrm>
            <a:off x="10786188" y="4367806"/>
            <a:ext cx="382555" cy="606071"/>
          </a:xfrm>
          <a:prstGeom prst="rect">
            <a:avLst/>
          </a:prstGeom>
          <a:solidFill>
            <a:srgbClr val="B676DF"/>
          </a:solidFill>
          <a:ln>
            <a:solidFill>
              <a:srgbClr val="B67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AF2587-186B-3962-6834-60CFAF3BD467}"/>
              </a:ext>
            </a:extLst>
          </p:cNvPr>
          <p:cNvSpPr/>
          <p:nvPr/>
        </p:nvSpPr>
        <p:spPr>
          <a:xfrm>
            <a:off x="11609226" y="2407716"/>
            <a:ext cx="382555" cy="606071"/>
          </a:xfrm>
          <a:prstGeom prst="rect">
            <a:avLst/>
          </a:prstGeom>
          <a:solidFill>
            <a:srgbClr val="C66FD6"/>
          </a:solidFill>
          <a:ln>
            <a:solidFill>
              <a:srgbClr val="C66F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58BA6DB-53CB-9F50-4661-6444D82DF854}"/>
              </a:ext>
            </a:extLst>
          </p:cNvPr>
          <p:cNvSpPr/>
          <p:nvPr/>
        </p:nvSpPr>
        <p:spPr>
          <a:xfrm>
            <a:off x="11600711" y="3381262"/>
            <a:ext cx="382555" cy="606071"/>
          </a:xfrm>
          <a:prstGeom prst="rect">
            <a:avLst/>
          </a:prstGeom>
          <a:solidFill>
            <a:srgbClr val="38CBA9"/>
          </a:solidFill>
          <a:ln>
            <a:solidFill>
              <a:srgbClr val="38CB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D8EF71-165D-A3A6-FDF3-21CA40351098}"/>
              </a:ext>
            </a:extLst>
          </p:cNvPr>
          <p:cNvSpPr/>
          <p:nvPr/>
        </p:nvSpPr>
        <p:spPr>
          <a:xfrm>
            <a:off x="11609226" y="4367806"/>
            <a:ext cx="382555" cy="606071"/>
          </a:xfrm>
          <a:prstGeom prst="rect">
            <a:avLst/>
          </a:prstGeom>
          <a:solidFill>
            <a:srgbClr val="6E8CF5"/>
          </a:solidFill>
          <a:ln>
            <a:solidFill>
              <a:srgbClr val="6E8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EC5C6D8-A286-D104-6BFE-F99214F63BEF}"/>
              </a:ext>
            </a:extLst>
          </p:cNvPr>
          <p:cNvSpPr/>
          <p:nvPr/>
        </p:nvSpPr>
        <p:spPr>
          <a:xfrm>
            <a:off x="11198861" y="2347300"/>
            <a:ext cx="382555" cy="28542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8219413-0B77-BD7B-6EB9-39372A150953}"/>
              </a:ext>
            </a:extLst>
          </p:cNvPr>
          <p:cNvCxnSpPr>
            <a:cxnSpLocks/>
          </p:cNvCxnSpPr>
          <p:nvPr/>
        </p:nvCxnSpPr>
        <p:spPr>
          <a:xfrm>
            <a:off x="11214947" y="2710841"/>
            <a:ext cx="3487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F133590-DBE4-121E-0854-4A9520665DEC}"/>
              </a:ext>
            </a:extLst>
          </p:cNvPr>
          <p:cNvCxnSpPr>
            <a:cxnSpLocks/>
          </p:cNvCxnSpPr>
          <p:nvPr/>
        </p:nvCxnSpPr>
        <p:spPr>
          <a:xfrm>
            <a:off x="11213970" y="3702995"/>
            <a:ext cx="3487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E1262C9-9DEC-4E19-555E-1FDD54FE5932}"/>
              </a:ext>
            </a:extLst>
          </p:cNvPr>
          <p:cNvCxnSpPr>
            <a:cxnSpLocks/>
          </p:cNvCxnSpPr>
          <p:nvPr/>
        </p:nvCxnSpPr>
        <p:spPr>
          <a:xfrm>
            <a:off x="11223072" y="4691322"/>
            <a:ext cx="3487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998257A-6FC5-DF84-690C-0AE47D388DEA}"/>
              </a:ext>
            </a:extLst>
          </p:cNvPr>
          <p:cNvSpPr txBox="1"/>
          <p:nvPr/>
        </p:nvSpPr>
        <p:spPr>
          <a:xfrm>
            <a:off x="11085873" y="2446338"/>
            <a:ext cx="5887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-37.9</a:t>
            </a:r>
            <a:endParaRPr lang="en-KR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59E1DE-A2FA-BD22-F081-081900DE2BCD}"/>
              </a:ext>
            </a:extLst>
          </p:cNvPr>
          <p:cNvSpPr txBox="1"/>
          <p:nvPr/>
        </p:nvSpPr>
        <p:spPr>
          <a:xfrm>
            <a:off x="11071998" y="3459094"/>
            <a:ext cx="5887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+37.9</a:t>
            </a:r>
            <a:endParaRPr lang="en-KR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B0D7CE-DB32-0318-21F6-0236487D9690}"/>
              </a:ext>
            </a:extLst>
          </p:cNvPr>
          <p:cNvSpPr txBox="1"/>
          <p:nvPr/>
        </p:nvSpPr>
        <p:spPr>
          <a:xfrm>
            <a:off x="11085873" y="4447420"/>
            <a:ext cx="5887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-26.0</a:t>
            </a:r>
            <a:endParaRPr lang="en-KR" sz="9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783354F-48CA-AF5A-64F1-E60D060EB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08" y="2308944"/>
            <a:ext cx="2671615" cy="257016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1E54E30-1FD2-8B50-4396-6EC3BE76D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8909" y="2358077"/>
            <a:ext cx="2521846" cy="2426080"/>
          </a:xfrm>
          <a:prstGeom prst="rect">
            <a:avLst/>
          </a:prstGeom>
        </p:spPr>
      </p:pic>
      <p:pic>
        <p:nvPicPr>
          <p:cNvPr id="54" name="Picture 53" descr="box2_loss_ga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2" y="1956816"/>
            <a:ext cx="2295144" cy="38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9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153</Words>
  <Application>Microsoft Macintosh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Jinil Kim</dc:creator>
  <cp:lastModifiedBy>Jinil Kim</cp:lastModifiedBy>
  <cp:revision>10</cp:revision>
  <cp:lastPrinted>2026-08-05T04:49:28Z</cp:lastPrinted>
  <dcterms:created xsi:type="dcterms:W3CDTF">2026-08-05T03:27:49Z</dcterms:created>
  <dcterms:modified xsi:type="dcterms:W3CDTF">2026-08-17T15:53:54Z</dcterms:modified>
</cp:coreProperties>
</file>